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1.png"/><Relationship Id="rId6" Type="http://schemas.openxmlformats.org/officeDocument/2006/relationships/image" Target="../media/image-12-1.png"/><Relationship Id="rId7" Type="http://schemas.openxmlformats.org/officeDocument/2006/relationships/image" Target="../media/image-12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liu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417320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48840" y="603504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A5C23E"/>
          </a:solidFill>
          <a:ln/>
        </p:spPr>
      </p:sp>
      <p:sp>
        <p:nvSpPr>
          <p:cNvPr id="4" name="Text 1"/>
          <p:cNvSpPr/>
          <p:nvPr/>
        </p:nvSpPr>
        <p:spPr>
          <a:xfrm>
            <a:off x="2148840" y="58978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48640" y="1965960"/>
            <a:ext cx="8778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spc="-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 naboer til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spc="-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forretningspartnere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548640" y="4160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Forslag til internt B2B-community for kunnskaps- og gründerhuset på Skårersletta 65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525780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524408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JEG TRENGER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286000" y="525780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A5C23E"/>
          </a:solidFill>
          <a:ln/>
        </p:spPr>
      </p:sp>
      <p:sp>
        <p:nvSpPr>
          <p:cNvPr id="10" name="Text 7"/>
          <p:cNvSpPr/>
          <p:nvPr/>
        </p:nvSpPr>
        <p:spPr>
          <a:xfrm>
            <a:off x="2286000" y="524408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JEG TILBYR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6263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Lius · Lørenskog ·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Fysisk nærhet skaper ikke samarbeid av seg selv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1 700 m² fylles nå av bank, advokater, regnskap, IT, kommunikasjon og gründere. Verdien ligger i koblingene mellom dem - og de oppstår ikke automatisk.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2064" y="2157984"/>
            <a:ext cx="5239512" cy="3547872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  <a:effectLst>
            <a:outerShdw sx="100000" sy="100000" kx="0" ky="0" algn="bl" rotWithShape="0" blurRad="152400" dist="38100" dir="5400000">
              <a:srgbClr val="1d213e">
                <a:alpha val="18000"/>
              </a:srgbClr>
            </a:outerShdw>
          </a:effectLst>
        </p:spPr>
      </p:sp>
      <p:pic>
        <p:nvPicPr>
          <p:cNvPr id="5" name="Image 0" descr="foto-interi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240280"/>
            <a:ext cx="5074920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2286000"/>
            <a:ext cx="475488" cy="475488"/>
          </a:xfrm>
          <a:prstGeom prst="ellipse">
            <a:avLst/>
          </a:prstGeom>
          <a:solidFill>
            <a:srgbClr val="EDF1F4"/>
          </a:solidFill>
          <a:ln/>
        </p:spPr>
      </p:sp>
      <p:pic>
        <p:nvPicPr>
          <p:cNvPr id="7" name="Image 1" descr="icon-users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2404872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95160" y="223113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Naboene er ukjente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995160" y="2523744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Folk hilser i kaffekøen, men vet ikke hva bedriften to pulter unna faktisk leverer - eller trenger.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309360" y="3429000"/>
            <a:ext cx="475488" cy="475488"/>
          </a:xfrm>
          <a:prstGeom prst="ellipse">
            <a:avLst/>
          </a:prstGeom>
          <a:solidFill>
            <a:srgbClr val="EDF1F4"/>
          </a:solidFill>
          <a:ln/>
        </p:spPr>
      </p:sp>
      <p:pic>
        <p:nvPicPr>
          <p:cNvPr id="11" name="Image 2" descr="icon-eyeoff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3547872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95160" y="337413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Behov og kapasitet er usynlige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6995160" y="3666744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Kjøpsbehov, ledig kapasitet og prosjekter går i dag til eksterne leverandører - uten at huset får sjansen.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309360" y="4572000"/>
            <a:ext cx="475488" cy="475488"/>
          </a:xfrm>
          <a:prstGeom prst="ellipse">
            <a:avLst/>
          </a:prstGeom>
          <a:solidFill>
            <a:srgbClr val="EDF1F4"/>
          </a:solidFill>
          <a:ln/>
        </p:spPr>
      </p:sp>
      <p:pic>
        <p:nvPicPr>
          <p:cNvPr id="15" name="Image 3" descr="icon-compass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4690872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95160" y="451713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Fellesskap krever fasilitering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6995160" y="4809744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Forskning på coworking viser at aktiv fasilitering, introduksjoner og kuratering er det som faktisk utløser samarbeid.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0451592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Lius Intern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aktivt fasilitert miljø flytter tall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10312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44 %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68680" y="338328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medlemmene hadde arbeidet på felles prosjekter med andre medlemmer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89120" y="173736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09160" y="210312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av 4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709160" y="338328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 engasjert eller ansatt av et annet medlem i løpet av ett år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0" y="173736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49640" y="210312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8549640" y="338328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coworking-lokasjoner i en 2025-studie peker på community-manageren som nøkkelen til tilhørighet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5166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Kilder: Impact Hub-undersøkelse med 2 336 medlemmer fra 76 lokasjoner; coworking-studie publisert 2025. Tallene gjelder aktivt fasiliterte nettverk og kan ikke overføres direkte - men de viser potensialet.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451592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Lius Intern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Lius Intern: et handlingsorientert B2B-lag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Ikke enda et sosialt nettverk med en tom feed - et system strukturert rundt hva bedriftene trenger akkurat nå.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86400" cy="1920240"/>
          </a:xfrm>
          <a:prstGeom prst="roundRect">
            <a:avLst>
              <a:gd name="adj" fmla="val 5714"/>
            </a:avLst>
          </a:prstGeom>
          <a:solidFill>
            <a:srgbClr val="EDF1F4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40280"/>
            <a:ext cx="475488" cy="475488"/>
          </a:xfrm>
          <a:prstGeom prst="ellipse">
            <a:avLst/>
          </a:prstGeom>
          <a:solidFill>
            <a:srgbClr val="A5C23E"/>
          </a:solidFill>
          <a:ln/>
        </p:spPr>
      </p:sp>
      <p:pic>
        <p:nvPicPr>
          <p:cNvPr id="6" name="Image 0" descr="icon-target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35915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1284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Profiler med intensjon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554480" y="2724912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Hver bedrift sier hva de leverer, kjøper, trenger nå og hvem de ser etter - ikke bare hvem de 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55080" y="1920240"/>
            <a:ext cx="5486400" cy="1920240"/>
          </a:xfrm>
          <a:prstGeom prst="roundRect">
            <a:avLst>
              <a:gd name="adj" fmla="val 5714"/>
            </a:avLst>
          </a:prstGeom>
          <a:solidFill>
            <a:srgbClr val="EDF1F4"/>
          </a:solidFill>
          <a:ln/>
        </p:spPr>
      </p:sp>
      <p:sp>
        <p:nvSpPr>
          <p:cNvPr id="10" name="Shape 7"/>
          <p:cNvSpPr/>
          <p:nvPr/>
        </p:nvSpPr>
        <p:spPr>
          <a:xfrm>
            <a:off x="6675120" y="2240280"/>
            <a:ext cx="475488" cy="475488"/>
          </a:xfrm>
          <a:prstGeom prst="ellipse">
            <a:avLst/>
          </a:prstGeom>
          <a:solidFill>
            <a:srgbClr val="A5C23E"/>
          </a:solidFill>
          <a:ln/>
        </p:spPr>
      </p:sp>
      <p:pic>
        <p:nvPicPr>
          <p:cNvPr id="11" name="Image 1" descr="icon-layers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235915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21284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Behov &amp; tilbud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360920" y="2724912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Strukturerte behov med frist, budsjett og kompetanse - kjernen som gjør presis matching mulig.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486400" cy="1920240"/>
          </a:xfrm>
          <a:prstGeom prst="roundRect">
            <a:avLst>
              <a:gd name="adj" fmla="val 5714"/>
            </a:avLst>
          </a:prstGeom>
          <a:solidFill>
            <a:srgbClr val="EDF1F4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480560"/>
            <a:ext cx="475488" cy="475488"/>
          </a:xfrm>
          <a:prstGeom prst="ellipse">
            <a:avLst/>
          </a:prstGeom>
          <a:solidFill>
            <a:srgbClr val="A5C23E"/>
          </a:solidFill>
          <a:ln/>
        </p:spPr>
      </p:sp>
      <p:pic>
        <p:nvPicPr>
          <p:cNvPr id="16" name="Image 2" descr="icon-shuffle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599432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45312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Varme introduksjoner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554480" y="4965192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Systemet foreslår, community-manageren kvalitetssikrer, begge parter godkjenner. Ingen kalde salgsmeldinger.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55080" y="4160520"/>
            <a:ext cx="5486400" cy="1920240"/>
          </a:xfrm>
          <a:prstGeom prst="roundRect">
            <a:avLst>
              <a:gd name="adj" fmla="val 5714"/>
            </a:avLst>
          </a:prstGeom>
          <a:solidFill>
            <a:srgbClr val="EDF1F4"/>
          </a:solidFill>
          <a:ln/>
        </p:spPr>
      </p:sp>
      <p:sp>
        <p:nvSpPr>
          <p:cNvPr id="20" name="Shape 15"/>
          <p:cNvSpPr/>
          <p:nvPr/>
        </p:nvSpPr>
        <p:spPr>
          <a:xfrm>
            <a:off x="6675120" y="4480560"/>
            <a:ext cx="475488" cy="475488"/>
          </a:xfrm>
          <a:prstGeom prst="ellipse">
            <a:avLst/>
          </a:prstGeom>
          <a:solidFill>
            <a:srgbClr val="A5C23E"/>
          </a:solidFill>
          <a:ln/>
        </p:spPr>
      </p:sp>
      <p:pic>
        <p:nvPicPr>
          <p:cNvPr id="21" name="Image 3" descr="icon-award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4599432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45312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Community-manager i førersetet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360920" y="4965192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Programvaren erstatter ikke fasilitatoren - den gjør henne mange ganger mer effektiv.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6263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Booking, adgang og fakturering finnes allerede - Lius Intern integreres, det konkurrerer ikke.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0451592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Lius Intern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Bedriftsprofiler som sier hva dere ser etter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472184"/>
            <a:ext cx="118872" cy="118872"/>
          </a:xfrm>
          <a:prstGeom prst="ellipse">
            <a:avLst/>
          </a:prstGeom>
          <a:solidFill>
            <a:srgbClr val="A5C23E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137160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Dette leverer vi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 tjenester og produkter, med medlemsfordeler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2185416"/>
            <a:ext cx="118872" cy="118872"/>
          </a:xfrm>
          <a:prstGeom prst="ellipse">
            <a:avLst/>
          </a:prstGeom>
          <a:solidFill>
            <a:srgbClr val="A5C23E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8483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Dette kjøper vi regelmessig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 så leverandører i huset finner dere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898648"/>
            <a:ext cx="118872" cy="118872"/>
          </a:xfrm>
          <a:prstGeom prst="ellipse">
            <a:avLst/>
          </a:prstGeom>
          <a:solidFill>
            <a:srgbClr val="A5C23E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798064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Dette trenger vi hjelp med nå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 alltid oppdatert, alltid handlingsrettet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611880"/>
            <a:ext cx="118872" cy="118872"/>
          </a:xfrm>
          <a:prstGeom prst="ellipse">
            <a:avLst/>
          </a:prstGeom>
          <a:solidFill>
            <a:srgbClr val="A5C23E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3511296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Våre ideelle kunder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 gjør henvisninger fra naboene treffsikre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4325112"/>
            <a:ext cx="118872" cy="118872"/>
          </a:xfrm>
          <a:prstGeom prst="ellipse">
            <a:avLst/>
          </a:prstGeom>
          <a:solidFill>
            <a:srgbClr val="A5C23E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4224528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Åpne for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 henvisninger, partnerskap, investering, rekruttering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51206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Hver bedrift har en navngitt kontaktperson som mottar forespørsler og introduksjoner - og holder profilen levende.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9904" y="1380744"/>
            <a:ext cx="5650992" cy="3895344"/>
          </a:xfrm>
          <a:prstGeom prst="roundRect">
            <a:avLst>
              <a:gd name="adj" fmla="val 2113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  <a:effectLst>
            <a:outerShdw sx="100000" sy="100000" kx="0" ky="0" algn="bl" rotWithShape="0" blurRad="152400" dist="38100" dir="5400000">
              <a:srgbClr val="1d213e">
                <a:alpha val="18000"/>
              </a:srgbClr>
            </a:outerShdw>
          </a:effectLst>
        </p:spPr>
      </p:sp>
      <p:pic>
        <p:nvPicPr>
          <p:cNvPr id="15" name="Image 0" descr="shot-prof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463040"/>
            <a:ext cx="5486400" cy="373075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172200" y="5349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 prototypen: bedriftsprofil med «Dette ser vi etter»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451592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Lius Intern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Kjernen: «Jeg trenger» og «Jeg tilbyr»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12064" y="1380744"/>
            <a:ext cx="5650992" cy="42519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  <a:effectLst>
            <a:outerShdw sx="100000" sy="100000" kx="0" ky="0" algn="bl" rotWithShape="0" blurRad="152400" dist="38100" dir="5400000">
              <a:srgbClr val="1d213e">
                <a:alpha val="18000"/>
              </a:srgbClr>
            </a:outerShdw>
          </a:effectLst>
        </p:spPr>
      </p:sp>
      <p:pic>
        <p:nvPicPr>
          <p:cNvPr id="4" name="Image 0" descr="shot-beho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5486400" cy="4087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5715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 prototypen: strukturerte behov og tilbud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537960" y="148132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D213E"/>
          </a:solidFill>
          <a:ln/>
        </p:spPr>
      </p:sp>
      <p:sp>
        <p:nvSpPr>
          <p:cNvPr id="7" name="Text 4"/>
          <p:cNvSpPr/>
          <p:nvPr/>
        </p:nvSpPr>
        <p:spPr>
          <a:xfrm>
            <a:off x="6537960" y="14676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JEG TRENGER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0" y="148132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A5C23E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0" y="14676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JEG TILBYR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37960" y="21031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Leverandør søkes, kapasitet ledig, pilotkunde ønskes, utstyr til utlån - alt publiseres som strukturerte kort med: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537960" y="3108960"/>
            <a:ext cx="118872" cy="118872"/>
          </a:xfrm>
          <a:prstGeom prst="ellipse">
            <a:avLst/>
          </a:prstGeom>
          <a:solidFill>
            <a:srgbClr val="1D213E"/>
          </a:solidFill>
          <a:ln/>
        </p:spPr>
      </p:sp>
      <p:sp>
        <p:nvSpPr>
          <p:cNvPr id="12" name="Text 9"/>
          <p:cNvSpPr/>
          <p:nvPr/>
        </p:nvSpPr>
        <p:spPr>
          <a:xfrm>
            <a:off x="6812280" y="300837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Frist</a:t>
            </a:r>
            <a:pPr indent="0" marL="0">
              <a:buNone/>
            </a:pPr>
            <a:r>
              <a:rPr lang="en-US" sz="12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 når må det skje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537960" y="3675888"/>
            <a:ext cx="118872" cy="118872"/>
          </a:xfrm>
          <a:prstGeom prst="ellipse">
            <a:avLst/>
          </a:prstGeom>
          <a:solidFill>
            <a:srgbClr val="1D213E"/>
          </a:solidFill>
          <a:ln/>
        </p:spPr>
      </p:sp>
      <p:sp>
        <p:nvSpPr>
          <p:cNvPr id="14" name="Text 11"/>
          <p:cNvSpPr/>
          <p:nvPr/>
        </p:nvSpPr>
        <p:spPr>
          <a:xfrm>
            <a:off x="6812280" y="357530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Budsjettområde</a:t>
            </a:r>
            <a:pPr indent="0" marL="0">
              <a:buNone/>
            </a:pPr>
            <a:r>
              <a:rPr lang="en-US" sz="12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 forventningsstyring fra start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537960" y="4242816"/>
            <a:ext cx="118872" cy="118872"/>
          </a:xfrm>
          <a:prstGeom prst="ellipse">
            <a:avLst/>
          </a:prstGeom>
          <a:solidFill>
            <a:srgbClr val="1D213E"/>
          </a:solidFill>
          <a:ln/>
        </p:spPr>
      </p:sp>
      <p:sp>
        <p:nvSpPr>
          <p:cNvPr id="16" name="Text 13"/>
          <p:cNvSpPr/>
          <p:nvPr/>
        </p:nvSpPr>
        <p:spPr>
          <a:xfrm>
            <a:off x="6812280" y="41422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Kompetanse og bransje</a:t>
            </a:r>
            <a:pPr indent="0" marL="0">
              <a:buNone/>
            </a:pPr>
            <a:r>
              <a:rPr lang="en-US" sz="12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 grunnlaget for matching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537960" y="4809744"/>
            <a:ext cx="118872" cy="118872"/>
          </a:xfrm>
          <a:prstGeom prst="ellipse">
            <a:avLst/>
          </a:prstGeom>
          <a:solidFill>
            <a:srgbClr val="1D213E"/>
          </a:solidFill>
          <a:ln/>
        </p:spPr>
      </p:sp>
      <p:sp>
        <p:nvSpPr>
          <p:cNvPr id="18" name="Text 15"/>
          <p:cNvSpPr/>
          <p:nvPr/>
        </p:nvSpPr>
        <p:spPr>
          <a:xfrm>
            <a:off x="6812280" y="4709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Ønsket kontaktform</a:t>
            </a:r>
            <a:pPr indent="0" marL="0">
              <a:buNone/>
            </a:pPr>
            <a:r>
              <a:rPr lang="en-US" sz="12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 kaffemøte, e-post eller booket møte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537960" y="551383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Dermed kan systemet matche langt mer presist enn en generell feed noensinne kan.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0451592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Lius Intern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Varme introduksjoner - ikke kalde salgsmeldinger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EDF1F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74520"/>
            <a:ext cx="420624" cy="420624"/>
          </a:xfrm>
          <a:prstGeom prst="ellipse">
            <a:avLst/>
          </a:prstGeom>
          <a:solidFill>
            <a:srgbClr val="A5C23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56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83794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Systemet oppdager en mulig match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417320" y="2560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behov møter tilbud, intensjon møter intensjon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6002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1D213E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874520"/>
            <a:ext cx="420624" cy="420624"/>
          </a:xfrm>
          <a:prstGeom prst="ellipse">
            <a:avLst/>
          </a:prstGeom>
          <a:solidFill>
            <a:srgbClr val="A5C23E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856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57800" y="183794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Community-manageren vurderer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257800" y="2560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menneske kvalitetssikrer relevansen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16002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EDF1F4"/>
          </a:solidFill>
          <a:ln/>
        </p:spPr>
      </p:sp>
      <p:sp>
        <p:nvSpPr>
          <p:cNvPr id="14" name="Shape 12"/>
          <p:cNvSpPr/>
          <p:nvPr/>
        </p:nvSpPr>
        <p:spPr>
          <a:xfrm>
            <a:off x="8503920" y="1874520"/>
            <a:ext cx="420624" cy="420624"/>
          </a:xfrm>
          <a:prstGeom prst="ellipse">
            <a:avLst/>
          </a:prstGeom>
          <a:solidFill>
            <a:srgbClr val="A5C23E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1856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98280" y="183794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Begge parter får en begrunnelse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098280" y="2560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kort forklaring på hvorfor dere bør møtes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EDF1F4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023360"/>
            <a:ext cx="420624" cy="420624"/>
          </a:xfrm>
          <a:prstGeom prst="ellipse">
            <a:avLst/>
          </a:prstGeom>
          <a:solidFill>
            <a:srgbClr val="A5C23E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398678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Begge godkjenner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417320" y="4709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 blir kontaktet uten å ha sagt ja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89120" y="37490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EDF1F4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4023360"/>
            <a:ext cx="420624" cy="420624"/>
          </a:xfrm>
          <a:prstGeom prst="ellipse">
            <a:avLst/>
          </a:prstGeom>
          <a:solidFill>
            <a:srgbClr val="A5C23E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57800" y="398678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Kort møte bookes direkte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257800" y="4709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terskelen er et kvarter, ikke et pitch-møte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29600" y="37490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EDF1F4"/>
          </a:solidFill>
          <a:ln/>
        </p:spPr>
      </p:sp>
      <p:sp>
        <p:nvSpPr>
          <p:cNvPr id="29" name="Shape 27"/>
          <p:cNvSpPr/>
          <p:nvPr/>
        </p:nvSpPr>
        <p:spPr>
          <a:xfrm>
            <a:off x="8503920" y="4023360"/>
            <a:ext cx="420624" cy="420624"/>
          </a:xfrm>
          <a:prstGeom prst="ellipse">
            <a:avLst/>
          </a:prstGeom>
          <a:solidFill>
            <a:srgbClr val="A5C23E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098280" y="398678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Enkel oppfølging etterpå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098280" y="4709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 det noe? Læringen går tilbake til systemet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6172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Fremhevet: menneskelig kuratering er forskjellen på en introduksjon og enda en uønsket e-post.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451592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Lius Intern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Lettvekts oppfølging - ikke et CRM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enkel statuskjede per introduksjon. Partene velger selv hvor mye de deler.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2569464"/>
            <a:ext cx="10835640" cy="73152"/>
          </a:xfrm>
          <a:prstGeom prst="roundRect">
            <a:avLst>
              <a:gd name="adj" fmla="val 50000"/>
            </a:avLst>
          </a:prstGeom>
          <a:solidFill>
            <a:srgbClr val="D5DAE0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2569464"/>
            <a:ext cx="9029700" cy="73152"/>
          </a:xfrm>
          <a:prstGeom prst="roundRect">
            <a:avLst>
              <a:gd name="adj" fmla="val 50000"/>
            </a:avLst>
          </a:prstGeom>
          <a:solidFill>
            <a:srgbClr val="A5C23E"/>
          </a:solidFill>
          <a:ln/>
        </p:spPr>
      </p:sp>
      <p:sp>
        <p:nvSpPr>
          <p:cNvPr id="6" name="Shape 4"/>
          <p:cNvSpPr/>
          <p:nvPr/>
        </p:nvSpPr>
        <p:spPr>
          <a:xfrm>
            <a:off x="557784" y="2478024"/>
            <a:ext cx="256032" cy="256032"/>
          </a:xfrm>
          <a:prstGeom prst="ellipse">
            <a:avLst/>
          </a:prstGeom>
          <a:solidFill>
            <a:srgbClr val="A5C23E"/>
          </a:solidFill>
          <a:ln w="19050">
            <a:solidFill>
              <a:srgbClr val="A5C2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28803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Introduksjon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foreslått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63724" y="2478024"/>
            <a:ext cx="256032" cy="256032"/>
          </a:xfrm>
          <a:prstGeom prst="ellipse">
            <a:avLst/>
          </a:prstGeom>
          <a:solidFill>
            <a:srgbClr val="A5C23E"/>
          </a:solidFill>
          <a:ln w="19050">
            <a:solidFill>
              <a:srgbClr val="A5C2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05940" y="28803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Introduksjon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akseptert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69664" y="2478024"/>
            <a:ext cx="256032" cy="256032"/>
          </a:xfrm>
          <a:prstGeom prst="ellipse">
            <a:avLst/>
          </a:prstGeom>
          <a:solidFill>
            <a:srgbClr val="A5C23E"/>
          </a:solidFill>
          <a:ln w="19050">
            <a:solidFill>
              <a:srgbClr val="A5C2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28803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Møte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avtalt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75604" y="2478024"/>
            <a:ext cx="256032" cy="256032"/>
          </a:xfrm>
          <a:prstGeom prst="ellipse">
            <a:avLst/>
          </a:prstGeom>
          <a:solidFill>
            <a:srgbClr val="A5C23E"/>
          </a:solidFill>
          <a:ln w="19050">
            <a:solidFill>
              <a:srgbClr val="A5C2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17820" y="28803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Mulighet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identifisert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81544" y="2478024"/>
            <a:ext cx="256032" cy="256032"/>
          </a:xfrm>
          <a:prstGeom prst="ellipse">
            <a:avLst/>
          </a:prstGeom>
          <a:solidFill>
            <a:srgbClr val="A5C23E"/>
          </a:solidFill>
          <a:ln w="19050">
            <a:solidFill>
              <a:srgbClr val="A5C2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28803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Tilbud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587484" y="2478024"/>
            <a:ext cx="256032" cy="256032"/>
          </a:xfrm>
          <a:prstGeom prst="ellipse">
            <a:avLst/>
          </a:prstGeom>
          <a:solidFill>
            <a:srgbClr val="1D213E"/>
          </a:solidFill>
          <a:ln w="19050">
            <a:solidFill>
              <a:srgbClr val="1D21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29700" y="28803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Samarbeid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1393424" y="2478024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A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835640" y="28803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Avtale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inngått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4160520"/>
            <a:ext cx="475488" cy="475488"/>
          </a:xfrm>
          <a:prstGeom prst="ellipse">
            <a:avLst/>
          </a:prstGeom>
          <a:solidFill>
            <a:srgbClr val="EDF1F4"/>
          </a:solidFill>
          <a:ln/>
        </p:spPr>
      </p:sp>
      <p:pic>
        <p:nvPicPr>
          <p:cNvPr id="21" name="Image 0" descr="icon-check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4279392"/>
            <a:ext cx="237744" cy="2377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371600" y="41056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Frivillig for partene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1371600" y="4398264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Statusen oppdateres med to klikk - og bare så langt partene selv ønsker å dele.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00800" y="4160520"/>
            <a:ext cx="475488" cy="475488"/>
          </a:xfrm>
          <a:prstGeom prst="ellipse">
            <a:avLst/>
          </a:prstGeom>
          <a:solidFill>
            <a:srgbClr val="EDF1F4"/>
          </a:solidFill>
          <a:ln/>
        </p:spPr>
      </p:sp>
      <p:pic>
        <p:nvPicPr>
          <p:cNvPr id="25" name="Image 1" descr="icon-barchart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4279392"/>
            <a:ext cx="237744" cy="23774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086600" y="410565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Aggregert innsikt til vertskap og gårdeier</a:t>
            </a:r>
            <a:endParaRPr lang="en-US" sz="1450" dirty="0"/>
          </a:p>
        </p:txBody>
      </p:sp>
      <p:sp>
        <p:nvSpPr>
          <p:cNvPr id="27" name="Text 23"/>
          <p:cNvSpPr/>
          <p:nvPr/>
        </p:nvSpPr>
        <p:spPr>
          <a:xfrm>
            <a:off x="7086600" y="4398264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Antall introduksjoner, møter og avtaler - aldri innsyn i konfidensielle salgsdetaljer.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8580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Dokumenterer verdien av huset - uten å bli et rapporteringsregime.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10451592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Lius Intern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Community-managerens kontrollpanel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13716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Fasilitatoren er den viktigste enkeltfaktoren for at fellesskapet lever. Kontrollpanelet samler alt hun trenger: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2377440"/>
            <a:ext cx="118872" cy="118872"/>
          </a:xfrm>
          <a:prstGeom prst="ellipse">
            <a:avLst/>
          </a:prstGeom>
          <a:solidFill>
            <a:srgbClr val="A5C23E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2276856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Foreslåtte koblinger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 med begrunnelse, klare til å sendes ut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3154680"/>
            <a:ext cx="118872" cy="118872"/>
          </a:xfrm>
          <a:prstGeom prst="ellipse">
            <a:avLst/>
          </a:prstGeom>
          <a:solidFill>
            <a:srgbClr val="A5C23E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3054096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Introduksjoner under oppfølging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 statuskjeden viser hvor det stopper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3931920"/>
            <a:ext cx="118872" cy="118872"/>
          </a:xfrm>
          <a:prstGeom prst="ellipse">
            <a:avLst/>
          </a:prstGeom>
          <a:solidFill>
            <a:srgbClr val="A5C23E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3831336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Trenger oppmerksomhet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 nye uten introduksjon, ubesvarte behov, ufullstendige profiler, stille medlemmer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709160"/>
            <a:ext cx="118872" cy="118872"/>
          </a:xfrm>
          <a:prstGeom prst="ellipse">
            <a:avLst/>
          </a:prstGeom>
          <a:solidFill>
            <a:srgbClr val="A5C23E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4608576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Historier å dele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 samarbeid som beviser husets verdi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55321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Programvaren erstatter ikke community-manageren. Den gjør henne mange ganger mer effektiv.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89904" y="1380744"/>
            <a:ext cx="5650992" cy="42519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  <a:effectLst>
            <a:outerShdw sx="100000" sy="100000" kx="0" ky="0" algn="bl" rotWithShape="0" blurRad="152400" dist="38100" dir="5400000">
              <a:srgbClr val="1d213e">
                <a:alpha val="18000"/>
              </a:srgbClr>
            </a:outerShdw>
          </a:effectLst>
        </p:spPr>
      </p:sp>
      <p:pic>
        <p:nvPicPr>
          <p:cNvPr id="14" name="Image 0" descr="shot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463040"/>
            <a:ext cx="5486400" cy="40873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172200" y="5715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 prototypen: koblinger, statuskjeder og oppmerksomhetsliste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451592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Lius Intern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Forretning bygger nettverket - samhold gjør det varig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12064" y="1380744"/>
            <a:ext cx="5650992" cy="3895344"/>
          </a:xfrm>
          <a:prstGeom prst="roundRect">
            <a:avLst>
              <a:gd name="adj" fmla="val 2113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  <a:effectLst>
            <a:outerShdw sx="100000" sy="100000" kx="0" ky="0" algn="bl" rotWithShape="0" blurRad="152400" dist="38100" dir="5400000">
              <a:srgbClr val="1d213e">
                <a:alpha val="18000"/>
              </a:srgbClr>
            </a:outerShdw>
          </a:effectLst>
        </p:spPr>
      </p:sp>
      <p:pic>
        <p:nvPicPr>
          <p:cNvPr id="4" name="Image 0" descr="shot-puls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5486400" cy="3730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5349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 prototypen: Pulsen - husets interne vegg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92240" y="1554480"/>
            <a:ext cx="475488" cy="475488"/>
          </a:xfrm>
          <a:prstGeom prst="ellipse">
            <a:avLst/>
          </a:prstGeom>
          <a:solidFill>
            <a:srgbClr val="EDF1F4"/>
          </a:solidFill>
          <a:ln/>
        </p:spPr>
      </p:sp>
      <p:pic>
        <p:nvPicPr>
          <p:cNvPr id="7" name="Image 1" descr="icon-calendar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1673352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78040" y="149961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Arrangementer koblet til behov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7178040" y="1792224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networking med forhåndsmatching, member showcase, problemløsningslunsjer - og forslag til hvem du bør møte.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92240" y="2743200"/>
            <a:ext cx="475488" cy="475488"/>
          </a:xfrm>
          <a:prstGeom prst="ellipse">
            <a:avLst/>
          </a:prstGeom>
          <a:solidFill>
            <a:srgbClr val="EDF1F4"/>
          </a:solidFill>
          <a:ln/>
        </p:spPr>
      </p:sp>
      <p:pic>
        <p:nvPicPr>
          <p:cNvPr id="11" name="Image 2" descr="icon-coffee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2862072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78040" y="268833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Kaffematcher og buddyordning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7178040" y="2980944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Månedlige tilfeldige møter på tvers, og en fadder til alle nye - ingen skal spise lunsj alene første uken.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492240" y="3931920"/>
            <a:ext cx="475488" cy="475488"/>
          </a:xfrm>
          <a:prstGeom prst="ellipse">
            <a:avLst/>
          </a:prstGeom>
          <a:solidFill>
            <a:srgbClr val="EDF1F4"/>
          </a:solidFill>
          <a:ln/>
        </p:spPr>
      </p:sp>
      <p:pic>
        <p:nvPicPr>
          <p:cNvPr id="15" name="Image 3" descr="icon-heart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4050792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178040" y="38770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Feiring og takk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7178040" y="4169664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Nyansettelser, kontrakter og lanseringer feires på Pulsen - og medlemmer kan fremheve hverandre.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492240" y="5120640"/>
            <a:ext cx="475488" cy="475488"/>
          </a:xfrm>
          <a:prstGeom prst="ellipse">
            <a:avLst/>
          </a:prstGeom>
          <a:solidFill>
            <a:srgbClr val="EDF1F4"/>
          </a:solidFill>
          <a:ln/>
        </p:spPr>
      </p:sp>
      <p:pic>
        <p:nvPicPr>
          <p:cNvPr id="19" name="Image 4" descr="icon-zap-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5239512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178040" y="506577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Deling av utstyr og kompetanse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7178040" y="5358384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Spørsmål til fellesskapet, utlån av ressurser og faggrupper senker terskelen for å be om hjelp.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10451592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Lius Intern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 måler verdi - ikke innlogginger og likes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611880" cy="393192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810512"/>
            <a:ext cx="475488" cy="475488"/>
          </a:xfrm>
          <a:prstGeom prst="ellipse">
            <a:avLst/>
          </a:prstGeom>
          <a:solidFill>
            <a:srgbClr val="A5C23E"/>
          </a:solidFill>
          <a:ln/>
        </p:spPr>
      </p:sp>
      <p:pic>
        <p:nvPicPr>
          <p:cNvPr id="5" name="Image 0" descr="icon-trending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929384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745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Forretningsverdi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260604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Relevante matcher og aksepterte introduksjoner</a:t>
            </a:r>
            <a:endParaRPr lang="en-US" sz="1200" dirty="0"/>
          </a:p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Gjennomførte møter og identifiserte muligheter</a:t>
            </a:r>
            <a:endParaRPr lang="en-US" sz="1200" dirty="0"/>
          </a:p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Avtaler, henvisninger og rapportert omsetning</a:t>
            </a:r>
            <a:endParaRPr lang="en-US" sz="1200" dirty="0"/>
          </a:p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 fra innflytting til første forretningskontakt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34840" y="1508760"/>
            <a:ext cx="3611880" cy="393192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54880" y="1810512"/>
            <a:ext cx="475488" cy="475488"/>
          </a:xfrm>
          <a:prstGeom prst="ellipse">
            <a:avLst/>
          </a:prstGeom>
          <a:solidFill>
            <a:srgbClr val="EDF1F4"/>
          </a:solidFill>
          <a:ln/>
        </p:spPr>
      </p:sp>
      <p:pic>
        <p:nvPicPr>
          <p:cNvPr id="10" name="Image 1" descr="icon-heart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929384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18745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Samhold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800600" y="260604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Kontakt på tvers av bedriftene</a:t>
            </a:r>
            <a:endParaRPr lang="en-US" sz="1200" dirty="0"/>
          </a:p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 til nye medlemmers første introduksjon</a:t>
            </a:r>
            <a:endParaRPr lang="en-US" sz="1200" dirty="0"/>
          </a:p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Deltakelse på faglige og sosiale aktiviteter</a:t>
            </a:r>
            <a:endParaRPr lang="en-US" sz="1200" dirty="0"/>
          </a:p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Opplevd tilhørighet via korte pulsmålinger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321040" y="1508760"/>
            <a:ext cx="3611880" cy="393192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641080" y="1810512"/>
            <a:ext cx="475488" cy="475488"/>
          </a:xfrm>
          <a:prstGeom prst="ellipse">
            <a:avLst/>
          </a:prstGeom>
          <a:solidFill>
            <a:srgbClr val="EDF1F4"/>
          </a:solidFill>
          <a:ln/>
        </p:spPr>
      </p:sp>
      <p:pic>
        <p:nvPicPr>
          <p:cNvPr id="15" name="Image 2" descr="icon-home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952" y="1929384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281160" y="18745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 for operatøren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686800" y="260604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Fornyelsesgrad og frafall</a:t>
            </a:r>
            <a:endParaRPr lang="en-US" sz="1200" dirty="0"/>
          </a:p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Bruk av lokaler og arrangementer</a:t>
            </a:r>
            <a:endParaRPr lang="en-US" sz="1200" dirty="0"/>
          </a:p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Medlemstilfredshet</a:t>
            </a:r>
            <a:endParaRPr lang="en-US" sz="1200" dirty="0"/>
          </a:p>
          <a:p>
            <a:pPr marL="127000" indent="-1270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Hvilke medlemstyper som skaper mest verdi for hverandre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0451592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Lius Intern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Veien dit: liten MVP, tett utrulling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Første versjon</a:t>
            </a:r>
            <a:endParaRPr lang="en-US" sz="1600" dirty="0"/>
          </a:p>
        </p:txBody>
      </p:sp>
      <p:pic>
        <p:nvPicPr>
          <p:cNvPr id="4" name="Image 0" descr="icon-check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92808"/>
            <a:ext cx="201168" cy="201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6112" y="18379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Bedrifts- og personprofiler med intensjon</a:t>
            </a:r>
            <a:endParaRPr lang="en-US" sz="1250" dirty="0"/>
          </a:p>
        </p:txBody>
      </p:sp>
      <p:pic>
        <p:nvPicPr>
          <p:cNvPr id="6" name="Image 1" descr="icon-check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22576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6112" y="22677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Søkbar kompetanse- og medlemskatalog</a:t>
            </a:r>
            <a:endParaRPr lang="en-US" sz="1250" dirty="0"/>
          </a:p>
        </p:txBody>
      </p:sp>
      <p:pic>
        <p:nvPicPr>
          <p:cNvPr id="8" name="Image 2" descr="icon-check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752344"/>
            <a:ext cx="201168" cy="2011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96112" y="2697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«Jeg trenger / jeg tilbyr» med matchforslag</a:t>
            </a:r>
            <a:endParaRPr lang="en-US" sz="1250" dirty="0"/>
          </a:p>
        </p:txBody>
      </p:sp>
      <p:pic>
        <p:nvPicPr>
          <p:cNvPr id="10" name="Image 3" descr="icon-check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182112"/>
            <a:ext cx="201168" cy="2011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96112" y="31272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Godkjente introduksjoner og enkel møtebooking</a:t>
            </a:r>
            <a:endParaRPr lang="en-US" sz="1250" dirty="0"/>
          </a:p>
        </p:txBody>
      </p:sp>
      <p:pic>
        <p:nvPicPr>
          <p:cNvPr id="12" name="Image 4" descr="icon-check-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611880"/>
            <a:ext cx="201168" cy="20116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96112" y="35570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Arrangementer med deltaker- og matchforslag</a:t>
            </a:r>
            <a:endParaRPr lang="en-US" sz="1250" dirty="0"/>
          </a:p>
        </p:txBody>
      </p:sp>
      <p:pic>
        <p:nvPicPr>
          <p:cNvPr id="14" name="Image 5" descr="icon-check-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4041648"/>
            <a:ext cx="201168" cy="20116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96112" y="39867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Community-managerens kontrollpanel</a:t>
            </a:r>
            <a:endParaRPr lang="en-US" sz="1250" dirty="0"/>
          </a:p>
        </p:txBody>
      </p:sp>
      <p:pic>
        <p:nvPicPr>
          <p:cNvPr id="16" name="Image 6" descr="icon-check-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471416"/>
            <a:ext cx="201168" cy="201168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896112" y="4416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Ukentlig oppsummering på e-post eller Teams</a:t>
            </a:r>
            <a:endParaRPr lang="en-US" sz="1250" dirty="0"/>
          </a:p>
        </p:txBody>
      </p:sp>
      <p:sp>
        <p:nvSpPr>
          <p:cNvPr id="18" name="Text 9"/>
          <p:cNvSpPr/>
          <p:nvPr/>
        </p:nvSpPr>
        <p:spPr>
          <a:xfrm>
            <a:off x="566928" y="5065776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 webapp/PWA - ikke egen mobilapp. Integreres med OfficeRnD, Nexudus eller andre driftssystemer i stedet for å erstatte dem.</a:t>
            </a:r>
            <a:endParaRPr lang="en-US" sz="1150" dirty="0"/>
          </a:p>
        </p:txBody>
      </p:sp>
      <p:sp>
        <p:nvSpPr>
          <p:cNvPr id="19" name="Text 10"/>
          <p:cNvSpPr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Utrulling</a:t>
            </a:r>
            <a:endParaRPr lang="en-US" sz="1600" dirty="0"/>
          </a:p>
        </p:txBody>
      </p:sp>
      <p:sp>
        <p:nvSpPr>
          <p:cNvPr id="20" name="Shape 11"/>
          <p:cNvSpPr/>
          <p:nvPr/>
        </p:nvSpPr>
        <p:spPr>
          <a:xfrm>
            <a:off x="6400800" y="1874520"/>
            <a:ext cx="5212080" cy="932688"/>
          </a:xfrm>
          <a:prstGeom prst="roundRect">
            <a:avLst>
              <a:gd name="adj" fmla="val 9804"/>
            </a:avLst>
          </a:prstGeom>
          <a:solidFill>
            <a:srgbClr val="EDF1F4"/>
          </a:solidFill>
          <a:ln/>
        </p:spPr>
      </p:sp>
      <p:sp>
        <p:nvSpPr>
          <p:cNvPr id="21" name="Text 12"/>
          <p:cNvSpPr/>
          <p:nvPr/>
        </p:nvSpPr>
        <p:spPr>
          <a:xfrm>
            <a:off x="662940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22" name="Text 13"/>
          <p:cNvSpPr/>
          <p:nvPr/>
        </p:nvSpPr>
        <p:spPr>
          <a:xfrm>
            <a:off x="7086600" y="19842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Forankring  </a:t>
            </a:r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2 uker</a:t>
            </a:r>
            <a:endParaRPr lang="en-US" sz="1300" dirty="0"/>
          </a:p>
        </p:txBody>
      </p:sp>
      <p:sp>
        <p:nvSpPr>
          <p:cNvPr id="23" name="Text 14"/>
          <p:cNvSpPr/>
          <p:nvPr/>
        </p:nvSpPr>
        <p:spPr>
          <a:xfrm>
            <a:off x="7086600" y="230428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prototypen valideres med 3-5 leietakere</a:t>
            </a:r>
            <a:endParaRPr lang="en-US" sz="1100" dirty="0"/>
          </a:p>
        </p:txBody>
      </p:sp>
      <p:sp>
        <p:nvSpPr>
          <p:cNvPr id="24" name="Shape 15"/>
          <p:cNvSpPr/>
          <p:nvPr/>
        </p:nvSpPr>
        <p:spPr>
          <a:xfrm>
            <a:off x="6400800" y="2990088"/>
            <a:ext cx="5212080" cy="932688"/>
          </a:xfrm>
          <a:prstGeom prst="roundRect">
            <a:avLst>
              <a:gd name="adj" fmla="val 9804"/>
            </a:avLst>
          </a:prstGeom>
          <a:solidFill>
            <a:srgbClr val="1D213E"/>
          </a:solidFill>
          <a:ln/>
        </p:spPr>
      </p:sp>
      <p:sp>
        <p:nvSpPr>
          <p:cNvPr id="25" name="Text 16"/>
          <p:cNvSpPr/>
          <p:nvPr/>
        </p:nvSpPr>
        <p:spPr>
          <a:xfrm>
            <a:off x="6629400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5C2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26" name="Text 17"/>
          <p:cNvSpPr/>
          <p:nvPr/>
        </p:nvSpPr>
        <p:spPr>
          <a:xfrm>
            <a:off x="7086600" y="309981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 </a:t>
            </a:r>
            <a:pPr indent="0" marL="0">
              <a:buNone/>
            </a:pPr>
            <a:r>
              <a:rPr lang="en-US" sz="1300" dirty="0">
                <a:solidFill>
                  <a:srgbClr val="C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4-6 uker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7086600" y="341985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 bedrifter fyller profilene, første introduksjoner</a:t>
            </a:r>
            <a:endParaRPr lang="en-US" sz="1100" dirty="0"/>
          </a:p>
        </p:txBody>
      </p:sp>
      <p:sp>
        <p:nvSpPr>
          <p:cNvPr id="28" name="Shape 19"/>
          <p:cNvSpPr/>
          <p:nvPr/>
        </p:nvSpPr>
        <p:spPr>
          <a:xfrm>
            <a:off x="6400800" y="4105656"/>
            <a:ext cx="5212080" cy="932688"/>
          </a:xfrm>
          <a:prstGeom prst="roundRect">
            <a:avLst>
              <a:gd name="adj" fmla="val 9804"/>
            </a:avLst>
          </a:prstGeom>
          <a:solidFill>
            <a:srgbClr val="EDF1F4"/>
          </a:solidFill>
          <a:ln/>
        </p:spPr>
      </p:sp>
      <p:sp>
        <p:nvSpPr>
          <p:cNvPr id="29" name="Text 20"/>
          <p:cNvSpPr/>
          <p:nvPr/>
        </p:nvSpPr>
        <p:spPr>
          <a:xfrm>
            <a:off x="6629400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30" name="Text 21"/>
          <p:cNvSpPr/>
          <p:nvPr/>
        </p:nvSpPr>
        <p:spPr>
          <a:xfrm>
            <a:off x="7086600" y="421538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Lansering  </a:t>
            </a:r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2 uker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7086600" y="453542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leietakere inviteres, onboarding på husfrokost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6400800" y="5221224"/>
            <a:ext cx="5212080" cy="932688"/>
          </a:xfrm>
          <a:prstGeom prst="roundRect">
            <a:avLst>
              <a:gd name="adj" fmla="val 9804"/>
            </a:avLst>
          </a:prstGeom>
          <a:solidFill>
            <a:srgbClr val="EDF1F4"/>
          </a:solidFill>
          <a:ln/>
        </p:spPr>
      </p:sp>
      <p:sp>
        <p:nvSpPr>
          <p:cNvPr id="33" name="Text 24"/>
          <p:cNvSpPr/>
          <p:nvPr/>
        </p:nvSpPr>
        <p:spPr>
          <a:xfrm>
            <a:off x="6629400" y="5468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34" name="Text 25"/>
          <p:cNvSpPr/>
          <p:nvPr/>
        </p:nvSpPr>
        <p:spPr>
          <a:xfrm>
            <a:off x="7086600" y="53309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 </a:t>
            </a:r>
            <a:pPr indent="0" marL="0">
              <a:buNone/>
            </a:pPr>
            <a:r>
              <a:rPr lang="en-US" sz="13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løpende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7086600" y="56509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ukentlige oppslag, kaffematcher, halvårlig profilsjekk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10451592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Lius Intern ·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D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 steg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262C4F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148840"/>
            <a:ext cx="457200" cy="457200"/>
          </a:xfrm>
          <a:prstGeom prst="ellipse">
            <a:avLst/>
          </a:prstGeom>
          <a:solidFill>
            <a:srgbClr val="A5C23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demoen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Prototypen er klikkbar og bygget i Lius’ eget design - profiler, behov &amp; tilbud og kontrollpanelet.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262C4F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2148840"/>
            <a:ext cx="457200" cy="457200"/>
          </a:xfrm>
          <a:prstGeom prst="ellipse">
            <a:avLst/>
          </a:prstGeom>
          <a:solidFill>
            <a:srgbClr val="A5C23E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54880" y="2834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Valider med leietakerne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32918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 til fem bedrifter: Hvilke introduksjoner, samarbeid og kjøpsbehov blir oversett i dag?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21040" y="182880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262C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41080" y="2148840"/>
            <a:ext cx="457200" cy="457200"/>
          </a:xfrm>
          <a:prstGeom prst="ellipse">
            <a:avLst/>
          </a:prstGeom>
          <a:solidFill>
            <a:srgbClr val="A5C23E"/>
          </a:solidFill>
          <a:ln/>
        </p:spPr>
      </p:sp>
      <p:sp>
        <p:nvSpPr>
          <p:cNvPr id="15" name="Text 13"/>
          <p:cNvSpPr/>
          <p:nvPr/>
        </p:nvSpPr>
        <p:spPr>
          <a:xfrm>
            <a:off x="864108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641080" y="2834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i høst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41080" y="32918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 bedrifter, en community-manager i førersetet, og de første varme introduksjonene.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5166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post@lius.no  ·  +47 934 99 014  ·  lius.no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577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Fullt forslag: docs/forslag-b2b-community-os.md · Klikkbar prototype: /intern/</a:t>
            </a:r>
            <a:endParaRPr lang="en-US" sz="1050" dirty="0"/>
          </a:p>
        </p:txBody>
      </p:sp>
      <p:pic>
        <p:nvPicPr>
          <p:cNvPr id="20" name="Image 0" descr="logo-liu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5897880"/>
            <a:ext cx="1234440" cy="5120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2026-08-14T15:38:40Z</dcterms:created>
  <dcterms:modified xsi:type="dcterms:W3CDTF">2026-08-14T15:38:40Z</dcterms:modified>
</cp:coreProperties>
</file>