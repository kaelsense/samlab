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Hvorfor navnet: Samlab er satt sammen av «sam-» og «lab». Sam-forstavelsen er den norske kjernen i alt produktet handler om: samarbeid, samhandling, samlokalisering. Lab peker på at huset er et sted der noe utvikles, ikke bare et sted der folk sitter. Navnet sier med to stavelser det pitchen bruker tolv sider på: fellesskapet i huset er et sted der forretning skapes.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532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Samlab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Forretning mellom medlemmene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Community-portal for norske coworking-hus og kontorfellesskap - som WordPress-utvidelse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1206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1069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TRENGER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51206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51069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TILBYR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Produktpitch ·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Naboene i huset er et marked ingen har verktøy for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Coworking-hus og kontorfellesskap selger fellesskap - men forretningen mellom medlemmene skjer tilfeldig, om den skjer.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5" name="Image 0" descr="icon-eyeoff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1343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139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og kapasitet er usynlige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24323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Kjøpsbehov, ledig kapasitet og prosjekter går til eksterne leverandører - huset får aldri sjansen.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333756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9" name="Image 1" descr="icon-users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45643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282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Fysisk nærhet skaper ikke samarbeid av seg selv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35753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Forskningen på coworking er entydig: aktiv fasilitering og introduksjoner er det som utløser samarbeid.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448056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13" name="Image 2" descr="icon-compass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994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425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Dagens verktøy er ikke bygget for dette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47183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Facebook-grupper og Slack er ustrukturert og udokumentert. Driftssystemene håndterer booking, ikke fellesskap.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92240" y="210312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EEF1F2"/>
          </a:solidFill>
          <a:ln/>
        </p:spPr>
      </p:sp>
      <p:sp>
        <p:nvSpPr>
          <p:cNvPr id="17" name="Text 12"/>
          <p:cNvSpPr/>
          <p:nvPr/>
        </p:nvSpPr>
        <p:spPr>
          <a:xfrm>
            <a:off x="681228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 medlemmene bruker i dag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812280" y="283464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Facebook-/Slack-grupper - gratis, men ustrukturert, udokumentert og uten eierskap til data</a:t>
            </a:r>
            <a:endParaRPr lang="en-US" sz="1200" dirty="0"/>
          </a:p>
          <a:p>
            <a:pPr marL="127000" indent="-127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BNI og frokostnettverk - beviser betalingsvilje for strukturerte henvisninger, men er manuelle og bor utenfor huset</a:t>
            </a:r>
            <a:endParaRPr lang="en-US" sz="1200" dirty="0"/>
          </a:p>
          <a:p>
            <a:pPr marL="127000" indent="-127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Oppslagstavle og tilfeldige kaffeprater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Verdien er dokumentert - og betalingsviljen er bevist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103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medlemmene i aktivt fasiliterte miljøer hadde arbeidet på felles prosjekter (Impact Hub, 2 336 medlemmer)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2103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av 4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709160" y="32918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engasjert eller ansatt av et annet medlem i løpet av ett år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17373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2103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kr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549640" y="32918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bruker/mnd er norsk markedspris for interne kommunikasjonsverktøy - betalingsviljen finnes allerede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Kilder: Impact Hub-undersøkelse (76 lokasjoner); coworking-studie 2025 om community-manager-rollen; infohub.no prisliste 2026. Detaljer i konkurrentanalysene.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Samlab: et handlingsorientert B2B-lag for huset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Ikke enda et sosialt nettverk - et system strukturert rundt hva medlemsbedriftene trenger akkurat nå.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EF1F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6712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6" name="Image 0" descr="icon-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8600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305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Bedriftsprofiler med intensjon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66090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Hver bedrift sier hva de leverer, kjøper, trenger nå og hvem de ser etter - ikke bare hvem de 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EF1F2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16712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icon-lay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28600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05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&amp; tilbud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66090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Strukturerte behov med frist, budsjett og kompetanse - grunnlaget for presis matching.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EF1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6168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6" name="Image 2" descr="icon-shuff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805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3251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Varme introduksjoner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485546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Systemet foreslår, community-manageren kvalitetssikrer, begge parter godkjenner.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406908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EF1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675120" y="436168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1" name="Image 3" descr="icon-awar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4805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Community-managerens kontrollpanel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85546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Koblinger, oppfølging og "trenger oppmerksomhet" - verktøyet som gjør fasilitering effektiv.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tillegg: intern vegg, håndbok, arrangementer med matchforslag - og en valgfri AI-assistent.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Bygget og pilotert hos Lius kunnskaps- og gründerhus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12064" y="1380744"/>
            <a:ext cx="5650992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4" name="Image 0" descr="shot-beh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5486400" cy="4087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72784" y="1380744"/>
            <a:ext cx="5650992" cy="3895344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6" name="Image 1" descr="shot-prof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5486400" cy="3730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&amp; tilbud og bedriftsprofil - fra Lius’ installasjon (referansekunden). Fargene og logoen er Lius’ egne: portalen arver kundens design automatisk.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Varme introduksjoner - ikke kalde salgsmeldinger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1F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92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Systemet oppdager en mulig match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møter tilbud, intensjon møter intensjon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D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8288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792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Community-manageren vurderer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57800" y="24871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menneske kvalitetssikrer relevansen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1F2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18288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280" y="1792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Begge parter får en begrunnelse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98280" y="24871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 forklaring på hvorfor dere bør møtes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1F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862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849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Begge godkjenner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417320" y="45445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 kontaktes uten å ha sagt ja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6118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1F2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8862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3849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 møte bookes direkte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57800" y="45445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terskelen er et kvarter, ikke et pitch-møte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36118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1F2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38862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98280" y="3849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Enkel oppfølging etterpå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98280" y="45445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det noe? Læringen går tilbake til systemet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Samme flyt som profesjonelle B2B-matchmaking-plattformer bruker på konferanser og i klynger - men i husets hverdag, hele året.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måler forretning og fornyelse - ikke likes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Rapportene snakker gårdeierens språk: hva fellesskapet faktisk skaper, og hvorfor leietakerne blir.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5" name="Image 0" descr="icon-trending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305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568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Forretningsverdi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224942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Matcher, aksepterte introduksjoner, gjennomførte møter, avtaler og henvisninger - aggregert, aldri salgsdetaljer.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320040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9" name="Image 1" descr="icon-home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31927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1455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 for gårdeier og operator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343814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Fornyelsesgrad, frafall, bruk av lokaler og arrangementer - fellesskap som målbar leietakerlojalitet.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438912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13" name="Image 2" descr="icon-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079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3342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Bekreftet lest på viktige oppslag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462686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Vertskapets beskjeder (brannrutiner, husregler) med lesebekreftelse og oversikt i kontrollpanelet.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64224" y="1609344"/>
            <a:ext cx="5376672" cy="40507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17" name="Image 3" descr="shot-pan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91640"/>
            <a:ext cx="5212080" cy="3886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52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Kontrollpanelet: koblinger, statuskjeder og oppmerksomhetsliste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Posisjonen er ledig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 kategorier overlapper delvis - ingen kombinerer alle fire kjennetegnene vare.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794760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828800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43400" y="1828800"/>
            <a:ext cx="1481328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6552" y="182880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Drifts-plattformer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24728" y="1828800"/>
            <a:ext cx="1481328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82880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experience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06056" y="1828800"/>
            <a:ext cx="1572768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79208" y="1828800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Community-plattformer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78824" y="1828800"/>
            <a:ext cx="1481328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51976" y="182880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B2B-matchmaking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360152" y="1828800"/>
            <a:ext cx="1234440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33304" y="1828800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87168"/>
            <a:ext cx="3794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487168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Bedriften som enhet, med intensjoner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2487168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248716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24728" y="2487168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48716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06056" y="2487168"/>
            <a:ext cx="15727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248716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78824" y="2487168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51976" y="248716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360152" y="2487168"/>
            <a:ext cx="1234440" cy="658368"/>
          </a:xfrm>
          <a:prstGeom prst="rect">
            <a:avLst/>
          </a:prstGeom>
          <a:solidFill>
            <a:srgbClr val="2A9D8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33304" y="2487168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145536"/>
            <a:ext cx="3794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145536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Behov/tilbud + varme introduksjoner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43400" y="3145536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16552" y="3145536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24728" y="3145536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145536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06056" y="3145536"/>
            <a:ext cx="15727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9208" y="3145536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878824" y="3145536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51976" y="3145536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 event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360152" y="3145536"/>
            <a:ext cx="1234440" cy="658368"/>
          </a:xfrm>
          <a:prstGeom prst="rect">
            <a:avLst/>
          </a:prstGeom>
          <a:solidFill>
            <a:srgbClr val="2A9D8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33304" y="3145536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Ja, daglig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3803904"/>
            <a:ext cx="3794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3803904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Kontorfellesskap som daglig kontekst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43400" y="3803904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3803904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24728" y="3803904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3803904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306056" y="3803904"/>
            <a:ext cx="15727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79208" y="3803904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878824" y="3803904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51976" y="3803904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360152" y="3803904"/>
            <a:ext cx="1234440" cy="658368"/>
          </a:xfrm>
          <a:prstGeom prst="rect">
            <a:avLst/>
          </a:prstGeom>
          <a:solidFill>
            <a:srgbClr val="2A9D8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33304" y="380390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462272"/>
            <a:ext cx="3794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4462272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Selvhostet WordPress, flat pris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343400" y="4462272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16552" y="4462272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824728" y="4462272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97880" y="4462272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306056" y="4462272"/>
            <a:ext cx="15727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79208" y="4462272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78824" y="4462272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51976" y="4462272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0360152" y="4462272"/>
            <a:ext cx="1234440" cy="658368"/>
          </a:xfrm>
          <a:prstGeom prst="rect">
            <a:avLst/>
          </a:prstGeom>
          <a:solidFill>
            <a:srgbClr val="2A9D8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433304" y="4462272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5120640"/>
            <a:ext cx="3794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5120640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Norsk språk og marked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343400" y="5120640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16552" y="5120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824728" y="5120640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97880" y="5120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306056" y="5120640"/>
            <a:ext cx="15727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79208" y="5120640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878824" y="5120640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51976" y="5120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0360152" y="5120640"/>
            <a:ext cx="1234440" cy="658368"/>
          </a:xfrm>
          <a:prstGeom prst="rect">
            <a:avLst/>
          </a:prstGeom>
          <a:solidFill>
            <a:srgbClr val="2A9D8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433304" y="5120640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48640" y="60076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Detaljert gap-analyse, trusselvurdering og strategi i markedslandskaps-dokumentet.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Hvorfor WordPress-utvidelse - ikke enda en SaaS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EEF1F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745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pic>
        <p:nvPicPr>
          <p:cNvPr id="5" name="Image 0" descr="icon-home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28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Dataene bor hos dere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304288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Selvhostet på husets eget nettsted. Sterkeste personvernhistorie i markedet - ingen tredjepart, GDPR-dokumentasjon følger med.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155448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EEF1F2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18745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pic>
        <p:nvPicPr>
          <p:cNvPr id="10" name="Image 1" descr="icon-zap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9339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828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Arver designet deres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60920" y="2304288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Portalen tar automatisk nettstedets farger og fonter. Ingen ny app å lansere - medlemmene bruker husets eget domene.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EEF1F2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20624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pic>
        <p:nvPicPr>
          <p:cNvPr id="15" name="Image 2" descr="icon-barchart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160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pris, ubegrensede medlemmer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54480" y="4636008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Per-bruker-SaaS koster et hus med 50-100 medlemmer 41 000-83 000 kr/året. Vår årslisens per installasjon ligger langt under.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55080" y="38862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EEF1F2"/>
          </a:solidFill>
          <a:ln/>
        </p:spPr>
      </p:sp>
      <p:sp>
        <p:nvSpPr>
          <p:cNvPr id="19" name="Shape 14"/>
          <p:cNvSpPr/>
          <p:nvPr/>
        </p:nvSpPr>
        <p:spPr>
          <a:xfrm>
            <a:off x="6675120" y="420624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pic>
        <p:nvPicPr>
          <p:cNvPr id="20" name="Image 3" descr="icon-shuffle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32511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4160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Komplementær, ikke konkurrent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360920" y="4636008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adgang og fakturering bor i driftssystemet (AvoHub, Nexudus, OfficeRnD). Vi eier forretningen mellom medlemmene - og integrerer.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Generisk i bunn: foreninger, klynger og næringshager kan bruke portalen som ren community-løsning.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Valgfri modul: husets AI-assistent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chatbot som svarer på alt om huset - basert på portalens og nettstedets eget innhold, med kildelenker i hvert svar. Hos Lius heter den «Kimma»; hvert hus velger navn og tone.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65176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5" name="Image 0" descr="icon-chec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77063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5968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Alltid oppdatert, aldri på gjettverk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2889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Svarer kun fra husets eget innhold og siterer kilden. Passord og sensitivt holdes utenfor - alltid.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374904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9" name="Image 1" descr="icon-coffee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867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6941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Avlaster vertskapet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398678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«Hvordan booker jeg møterom?», «Når er neste arrangement?», «Hvem i huset kan regnskap?» - besvart døgnet rundt.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484632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13" name="Image 2" descr="icon-barchart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9651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7914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Forutsigbar kostnad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508406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under en krone per spørsmål. Prises som egen modul - grunnproduktet forblir billig og AI-fritt for de som vil.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583680" y="164592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1D213E"/>
          </a:solidFill>
          <a:ln/>
        </p:spPr>
      </p:sp>
      <p:sp>
        <p:nvSpPr>
          <p:cNvPr id="17" name="Text 12"/>
          <p:cNvSpPr/>
          <p:nvPr/>
        </p:nvSpPr>
        <p:spPr>
          <a:xfrm>
            <a:off x="6949440" y="2011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Ubesvarte spørsmål gjør produktet bedre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949440" y="28803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Spørsmålene assistenten ikke kan svare på, samles til community-manageren og mates inn i håndboken og FAQ-en - som igjen gjør assistenten bedre. En selvforsterkende løkke som bygger husets kunnskapsbase av seg selv.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«Hvorfor ikke bare ...?»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Circle eller FluentCommunity?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Generiske community-plattformer er person-sentriske: feed, grupper, kurs. Ingen bedriftsprofiler, ingen matching, ingen introduksjoner. De gir dere en vegg - vi gir dere forretning mellom medlemmene.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34840" y="15544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driftssystemet vi allerede har?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28346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AvoHub, Nexudus og OfficeRnD er bygget for booking, fakturering og adgang. Community-modulene deres er person-lister og en enkel feed. Vi konkurrerer ikke - vi integrerer og fyller forretningslaget de mangler.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321040" y="15544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Facebook-gruppen og BNI?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41080" y="28346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og kjent - men ustrukturert, udokumentert og utenfor huset. BNI beviser at strukturerte henvisninger er verdt å betale for. Vi bygger det inn i husets hverdag, med dokumentert verdi.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vi står - og veien videre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Gjort</a:t>
            </a:r>
            <a:endParaRPr lang="en-US" sz="1600" dirty="0"/>
          </a:p>
        </p:txBody>
      </p:sp>
      <p:pic>
        <p:nvPicPr>
          <p:cNvPr id="4" name="Image 0" descr="icon-chec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47088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17922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Konseptet validert mot Lius’ faktiske hverdag</a:t>
            </a:r>
            <a:endParaRPr lang="en-US" sz="1250" dirty="0"/>
          </a:p>
        </p:txBody>
      </p:sp>
      <p:pic>
        <p:nvPicPr>
          <p:cNvPr id="6" name="Image 1" descr="icon-che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22576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2267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Komplett klikkbar designprototype (UX-fasit)</a:t>
            </a:r>
            <a:endParaRPr lang="en-US" sz="1250" dirty="0"/>
          </a:p>
        </p:txBody>
      </p:sp>
      <p:pic>
        <p:nvPicPr>
          <p:cNvPr id="8" name="Image 2" descr="icon-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98064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6112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Vedtatt plugin-arkitektur og faseplan</a:t>
            </a:r>
            <a:endParaRPr lang="en-US" sz="1250" dirty="0"/>
          </a:p>
        </p:txBody>
      </p:sp>
      <p:pic>
        <p:nvPicPr>
          <p:cNvPr id="10" name="Image 3" descr="icon-check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73552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6112" y="3218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Konkurrentanalyser: FluentCommunity, Infohub og hele landskapet</a:t>
            </a:r>
            <a:endParaRPr lang="en-US" sz="1250" dirty="0"/>
          </a:p>
        </p:txBody>
      </p:sp>
      <p:pic>
        <p:nvPicPr>
          <p:cNvPr id="12" name="Image 4" descr="icon-check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4904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6112" y="36941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Assistent-arkitektur med kostnadsmodell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566928" y="4434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3-5 ukers utvikling. Full pakke inkl. kontrollpanel og assistent: 5-8 uker.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Veikart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6400800" y="182880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EEF1F2"/>
          </a:solidFill>
          <a:ln/>
        </p:spPr>
      </p:sp>
      <p:sp>
        <p:nvSpPr>
          <p:cNvPr id="17" name="Text 10"/>
          <p:cNvSpPr/>
          <p:nvPr/>
        </p:nvSpPr>
        <p:spPr>
          <a:xfrm>
            <a:off x="6675120" y="1938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67512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lisensmodell og tekniske avklaringer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400800" y="2907792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EEF1F2"/>
          </a:solidFill>
          <a:ln/>
        </p:spPr>
      </p:sp>
      <p:sp>
        <p:nvSpPr>
          <p:cNvPr id="20" name="Text 13"/>
          <p:cNvSpPr/>
          <p:nvPr/>
        </p:nvSpPr>
        <p:spPr>
          <a:xfrm>
            <a:off x="667512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1-2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675120" y="33192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plugin-fundament + kjernen: profiler, behov &amp; tilbud, vegg, håndbok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400800" y="3986784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D213E"/>
          </a:solidFill>
          <a:ln/>
        </p:spPr>
      </p:sp>
      <p:sp>
        <p:nvSpPr>
          <p:cNvPr id="23" name="Text 16"/>
          <p:cNvSpPr/>
          <p:nvPr/>
        </p:nvSpPr>
        <p:spPr>
          <a:xfrm>
            <a:off x="6675120" y="4096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675120" y="4398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Lius: 5 bedrifter, community-manager i førersetet, datafangst til casen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400800" y="5065776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EEF1F2"/>
          </a:solidFill>
          <a:ln/>
        </p:spPr>
      </p:sp>
      <p:sp>
        <p:nvSpPr>
          <p:cNvPr id="26" name="Text 19"/>
          <p:cNvSpPr/>
          <p:nvPr/>
        </p:nvSpPr>
        <p:spPr>
          <a:xfrm>
            <a:off x="6675120" y="51755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3-4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675120" y="54772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kontrollpanel, matching, lesebekreftelser, infoskjerm, assistent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 steg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262C4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Lisensmodell og tekniske avklaringer - grunnlaget som er dyrt å endre senere.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262C4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hos Lius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Første kunde og referansecase: fem bedrifter, målt på introduksjoner, møter og avtaler.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262C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41080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410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To-tre designpartnere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108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 norske hus inn tidlig - de former produktet og blir de neste referansene.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AS · kay@digitelle.no · digitelle.no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Klikkbar prototype og komplett dokumentasjon følger i overleveringspakken.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2026-08-29T11:20:16Z</dcterms:created>
  <dcterms:modified xsi:type="dcterms:W3CDTF">2026-08-29T11:20:16Z</dcterms:modified>
</cp:coreProperties>
</file>